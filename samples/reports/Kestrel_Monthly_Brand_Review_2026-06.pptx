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/>
              <a:t>TRx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TRx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Dec-25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6578.943587</c:v>
                </c:pt>
                <c:pt idx="1">
                  <c:v>6256.914296</c:v>
                </c:pt>
                <c:pt idx="2">
                  <c:v>6246.011097</c:v>
                </c:pt>
                <c:pt idx="3">
                  <c:v>6259.980652</c:v>
                </c:pt>
                <c:pt idx="4">
                  <c:v>5700.913948</c:v>
                </c:pt>
                <c:pt idx="5">
                  <c:v>5736.363291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/>
              <a:t>NRx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May 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319.927129</c:v>
                </c:pt>
                <c:pt idx="1">
                  <c:v>298.649962</c:v>
                </c:pt>
                <c:pt idx="2">
                  <c:v>246.351596</c:v>
                </c:pt>
                <c:pt idx="3">
                  <c:v>247.592534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/>
              <a:t>Call attainment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May 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0.914162615996</c:v>
                </c:pt>
                <c:pt idx="1">
                  <c:v>0.95764929812</c:v>
                </c:pt>
                <c:pt idx="2">
                  <c:v>0.8785080355</c:v>
                </c:pt>
                <c:pt idx="3">
                  <c:v>0.772211938917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%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Kestrel Monthly Brand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June 2026 edition · Data through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TRx trend</a:t>
            </a:r>
          </a:p>
        </p:txBody>
      </p:sp>
      <p:graphicFrame>
        <p:nvGraphicFramePr>
          <p:cNvPr id="3" name="TRx trend chart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performance indicators – May 2026</a:t>
            </a:r>
          </a:p>
        </p:txBody>
      </p:sp>
      <p:graphicFrame>
        <p:nvGraphicFramePr>
          <p:cNvPr id="3" name="KPI table"/>
          <p:cNvGraphicFramePr>
            <a:graphicFrameLocks noGrp="1"/>
          </p:cNvGraphicFramePr>
          <p:nvPr/>
        </p:nvGraphicFramePr>
        <p:xfrm>
          <a:off x="731520" y="137160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vs PY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TRx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5.7K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-2.1%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NRx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-2.0%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NBRx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-1.8%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TRx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IL-17 class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Call attainment (writers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Regional performance – May 2026</a:t>
            </a:r>
          </a:p>
        </p:txBody>
      </p:sp>
      <p:graphicFrame>
        <p:nvGraphicFramePr>
          <p:cNvPr id="3" name="NRx by region chart"/>
          <p:cNvGraphicFramePr>
            <a:graphicFrameLocks noGrp="1"/>
          </p:cNvGraphicFramePr>
          <p:nvPr/>
        </p:nvGraphicFramePr>
        <p:xfrm>
          <a:off x="4572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all attainment by region chart"/>
          <p:cNvGraphicFramePr>
            <a:graphicFrameLocks noGrp="1"/>
          </p:cNvGraphicFramePr>
          <p:nvPr/>
        </p:nvGraphicFramePr>
        <p:xfrm>
          <a:off x="621792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Field activity – May 2026</a:t>
            </a:r>
          </a:p>
        </p:txBody>
      </p:sp>
      <p:graphicFrame>
        <p:nvGraphicFramePr>
          <p:cNvPr id="3" name="Field activity table"/>
          <p:cNvGraphicFramePr>
            <a:graphicFrameLocks noGrp="1"/>
          </p:cNvGraphicFramePr>
          <p:nvPr/>
        </p:nvGraphicFramePr>
        <p:xfrm>
          <a:off x="731520" y="137160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Field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May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Calls (details delivered)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1,213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HCPs attended speaker programs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Referrals (projected)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210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New writers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Market research</a:t>
            </a:r>
          </a:p>
        </p:txBody>
      </p:sp>
      <p:graphicFrame>
        <p:nvGraphicFramePr>
          <p:cNvPr id="3" name="Brand tracker table"/>
          <p:cNvGraphicFramePr>
            <a:graphicFrameLocks noGrp="1"/>
          </p:cNvGraphicFramePr>
          <p:nvPr/>
        </p:nvGraphicFramePr>
        <p:xfrm>
          <a:off x="731520" y="1371600"/>
          <a:ext cx="8229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Brand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Q1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Brand awareness (aided)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62%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12-month persistency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71%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Promotion audit table"/>
          <p:cNvGraphicFramePr>
            <a:graphicFrameLocks noGrp="1"/>
          </p:cNvGraphicFramePr>
          <p:nvPr/>
        </p:nvGraphicFramePr>
        <p:xfrm>
          <a:off x="731520" y="3383280"/>
          <a:ext cx="8229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Promotion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May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Share of 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Supply – ex-factory units</a:t>
            </a:r>
          </a:p>
        </p:txBody>
      </p:sp>
      <p:graphicFrame>
        <p:nvGraphicFramePr>
          <p:cNvPr id="3" name="Ex-factory table"/>
          <p:cNvGraphicFramePr>
            <a:graphicFrameLocks noGrp="1"/>
          </p:cNvGraphicFramePr>
          <p:nvPr/>
        </p:nvGraphicFramePr>
        <p:xfrm>
          <a:off x="731520" y="1371600"/>
          <a:ext cx="8229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600"/>
                        <a:t>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May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/>
                        <a:t>Ex-factory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5,966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Ex-factory units trend</a:t>
            </a:r>
          </a:p>
        </p:txBody>
      </p:sp>
      <p:pic>
        <p:nvPicPr>
          <p:cNvPr id="3" name="Picture 2" descr="Bar chart image of ex-factory units by mon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Speaker program lift – May 2026</a:t>
            </a:r>
          </a:p>
        </p:txBody>
      </p:sp>
      <p:sp>
        <p:nvSpPr>
          <p:cNvPr id="3" name="Lift callout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Speaker programs drove +8% TRx lift in the East</a:t>
            </a:r>
          </a:p>
        </p:txBody>
      </p:sp>
      <p:sp>
        <p:nvSpPr>
          <p:cNvPr id="4" name="Data footer"/>
          <p:cNvSpPr txBox="1"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Data through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Monthly Brand Review - June 2026</dc:title>
  <dc:subject>Monthly brand review, data through May 2026</dc:subject>
  <dc:creator>Synthetic</dc:creator>
  <cp:keywords/>
  <dc:description>Synthetic report generated by kpi_evidence.eval.synth_reports (not real data).</dc:description>
  <cp:lastModifiedBy>Synthetic</cp:lastModifiedBy>
  <cp:revision>1</cp:revision>
  <dcterms:created xsi:type="dcterms:W3CDTF">2026-06-10T09:00:00Z</dcterms:created>
  <dcterms:modified xsi:type="dcterms:W3CDTF">2026-06-10T09:00:00Z</dcterms:modified>
  <cp:category>synthetic</cp:category>
</cp:coreProperties>
</file>